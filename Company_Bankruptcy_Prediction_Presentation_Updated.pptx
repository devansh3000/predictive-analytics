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7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66760" y="0"/>
            <a:ext cx="3822191" cy="6858000"/>
          </a:xfrm>
          <a:prstGeom prst="rect">
            <a:avLst/>
          </a:prstGeom>
          <a:solidFill>
            <a:srgbClr val="19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79192" cy="6858000"/>
          </a:xfrm>
          <a:prstGeom prst="rect">
            <a:avLst/>
          </a:prstGeom>
          <a:solidFill>
            <a:srgbClr val="13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23960" y="2057400"/>
            <a:ext cx="2148840" cy="214884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66860" y="2400300"/>
            <a:ext cx="1463040" cy="1463040"/>
          </a:xfrm>
          <a:prstGeom prst="ellipse">
            <a:avLst/>
          </a:prstGeom>
          <a:solidFill>
            <a:srgbClr val="4EB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23476" y="2756916"/>
            <a:ext cx="749808" cy="7498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EBCBA"/>
                </a:solidFill>
                <a:latin typeface="Aptos"/>
              </a:defRPr>
            </a:pPr>
            <a:r>
              <a:t>PREDICTIVE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740664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Company Bankruptcy Prediction</a:t>
            </a:r>
          </a:p>
          <a:p>
            <a:pPr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Using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200400"/>
            <a:ext cx="6858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CDDFE7"/>
                </a:solidFill>
                <a:latin typeface="Aptos"/>
              </a:defRPr>
            </a:pPr>
            <a:r>
              <a:t>An end-to-end classification project using the KDD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983480"/>
            <a:ext cx="6675120" cy="5873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IN" dirty="0"/>
              <a:t>Devansh Gosewade</a:t>
            </a:r>
            <a:endParaRPr dirty="0"/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Department of 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30936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EBCBA"/>
                </a:solidFill>
                <a:latin typeface="Aptos"/>
              </a:defRPr>
            </a:pPr>
            <a:r>
              <a:t>INDIVIDUAL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01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7273F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380"/>
                </a:solidFill>
                <a:latin typeface="Aptos"/>
              </a:defRPr>
            </a:pPr>
            <a:r>
              <a:t>COMPANY BANKRUPTCY PREDICTION  • 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6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49224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7273F"/>
                </a:solidFill>
                <a:latin typeface="Aptos"/>
              </a:defRPr>
            </a:pPr>
            <a:r>
              <a:t>Can financial indicators help identify companies classified as bankrupt?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51760"/>
            <a:ext cx="62179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D3946"/>
                </a:solidFill>
                <a:latin typeface="Aptos"/>
              </a:defRPr>
            </a:pPr>
            <a:r>
              <a:t>We train machine learning models to predict bankruptcy status from historical company financial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612648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D3946"/>
                </a:solidFill>
                <a:latin typeface="Aptos"/>
              </a:defRPr>
            </a:pPr>
            <a:r>
              <a:t>•  Explore and prepare financial data</a:t>
            </a:r>
          </a:p>
          <a:p>
            <a:pPr>
              <a:spcAft>
                <a:spcPts val="500"/>
              </a:spcAft>
              <a:defRPr sz="1600" b="0">
                <a:solidFill>
                  <a:srgbClr val="2D3946"/>
                </a:solidFill>
                <a:latin typeface="Aptos"/>
              </a:defRPr>
            </a:pPr>
            <a:r>
              <a:t>•  Compare three classification models</a:t>
            </a:r>
          </a:p>
          <a:p>
            <a:pPr>
              <a:spcAft>
                <a:spcPts val="500"/>
              </a:spcAft>
              <a:defRPr sz="1600" b="0">
                <a:solidFill>
                  <a:srgbClr val="2D3946"/>
                </a:solidFill>
                <a:latin typeface="Aptos"/>
              </a:defRPr>
            </a:pPr>
            <a:r>
              <a:t>•  Measure missed bankruptcies and false alarms</a:t>
            </a:r>
          </a:p>
          <a:p>
            <a:pPr>
              <a:spcAft>
                <a:spcPts val="500"/>
              </a:spcAft>
              <a:defRPr sz="1600" b="0">
                <a:solidFill>
                  <a:srgbClr val="2D3946"/>
                </a:solidFill>
                <a:latin typeface="Aptos"/>
              </a:defRPr>
            </a:pPr>
            <a:r>
              <a:t>•  Identify influential financial indicators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3886200" cy="114300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79" y="1508760"/>
            <a:ext cx="64008" cy="1143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59" y="1636776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59" y="2011680"/>
            <a:ext cx="3538728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Early risk signals can support further financial investigation.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834640"/>
            <a:ext cx="3886200" cy="114300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2834640"/>
            <a:ext cx="64008" cy="1143000"/>
          </a:xfrm>
          <a:prstGeom prst="rect">
            <a:avLst/>
          </a:prstGeom>
          <a:solidFill>
            <a:srgbClr val="DF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59" y="2962656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Prediction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3337560"/>
            <a:ext cx="3538728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Binary classification: 1 = bankrupt; 0 = non-bankrupt.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160520"/>
            <a:ext cx="3886200" cy="114300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79" y="4160520"/>
            <a:ext cx="64008" cy="1143000"/>
          </a:xfrm>
          <a:prstGeom prst="rect">
            <a:avLst/>
          </a:prstGeom>
          <a:solidFill>
            <a:srgbClr val="4EB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59" y="4288536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Project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4663440"/>
            <a:ext cx="3538728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A tested model plus interpretable evaluation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02 •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7273F"/>
                </a:solidFill>
                <a:latin typeface="Aptos"/>
              </a:defRPr>
            </a:pPr>
            <a:r>
              <a:t>Dataset &amp; Target 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380"/>
                </a:solidFill>
                <a:latin typeface="Aptos"/>
              </a:defRPr>
            </a:pPr>
            <a:r>
              <a:t>COMPANY BANKRUPTCY PREDICTION  • 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6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132588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64008" cy="13258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99616"/>
            <a:ext cx="31546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3127248" cy="731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Taiwanese Company Bankruptcy 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74720" cy="132588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64008" cy="1325880"/>
          </a:xfrm>
          <a:prstGeom prst="rect">
            <a:avLst/>
          </a:prstGeom>
          <a:solidFill>
            <a:srgbClr val="4EB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499616"/>
            <a:ext cx="31546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Dataset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19"/>
            <a:ext cx="3127248" cy="731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Common version: 6,819 records and 95 predictors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74720" cy="132588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64008" cy="1325880"/>
          </a:xfrm>
          <a:prstGeom prst="rect">
            <a:avLst/>
          </a:prstGeom>
          <a:solidFill>
            <a:srgbClr val="DF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499616"/>
            <a:ext cx="31546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19"/>
            <a:ext cx="3127248" cy="731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Bankrupt?  •  1 = bankrupt; 0 = non-bankrupt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7273F"/>
                </a:solidFill>
                <a:latin typeface="Aptos"/>
              </a:defRPr>
            </a:pPr>
            <a:r>
              <a:t>Financial indicators describe different aspects of company health: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03320"/>
            <a:ext cx="2514600" cy="123444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3703320"/>
            <a:ext cx="64008" cy="1234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831335"/>
            <a:ext cx="2194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Profitability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06240"/>
            <a:ext cx="216712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3946"/>
                </a:solidFill>
                <a:latin typeface="Aptos"/>
              </a:defRPr>
            </a:pPr>
            <a:r>
              <a:t>Profit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703320"/>
            <a:ext cx="2514600" cy="123444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66160" y="3703320"/>
            <a:ext cx="64008" cy="1234440"/>
          </a:xfrm>
          <a:prstGeom prst="rect">
            <a:avLst/>
          </a:prstGeom>
          <a:solidFill>
            <a:srgbClr val="4EB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49039" y="3831335"/>
            <a:ext cx="2194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Liquidity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206240"/>
            <a:ext cx="216712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3946"/>
                </a:solidFill>
                <a:latin typeface="Aptos"/>
              </a:defRPr>
            </a:pPr>
            <a:r>
              <a:t>Short-term obligations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79" y="3703320"/>
            <a:ext cx="2514600" cy="123444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55079" y="3703320"/>
            <a:ext cx="64008" cy="1234440"/>
          </a:xfrm>
          <a:prstGeom prst="rect">
            <a:avLst/>
          </a:prstGeom>
          <a:solidFill>
            <a:srgbClr val="DF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59" y="3831335"/>
            <a:ext cx="2194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Leverage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4206240"/>
            <a:ext cx="216712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3946"/>
                </a:solidFill>
                <a:latin typeface="Aptos"/>
              </a:defRPr>
            </a:pPr>
            <a:r>
              <a:t>Debt exposure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3999" y="3703320"/>
            <a:ext cx="2514600" cy="123444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43999" y="3703320"/>
            <a:ext cx="64008" cy="1234440"/>
          </a:xfrm>
          <a:prstGeom prst="rect">
            <a:avLst/>
          </a:prstGeom>
          <a:solidFill>
            <a:srgbClr val="31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79" y="3831335"/>
            <a:ext cx="2194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Efficiency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79" y="4206240"/>
            <a:ext cx="216712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3946"/>
                </a:solidFill>
                <a:latin typeface="Aptos"/>
              </a:defRPr>
            </a:pPr>
            <a:r>
              <a:t>Use of assets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349240"/>
            <a:ext cx="106070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67380"/>
                </a:solidFill>
                <a:latin typeface="Aptos"/>
              </a:defRPr>
            </a:pPr>
            <a:r>
              <a:t>The target is imbalanced: bankrupt cases are much rarer than non-bankrupt cases. Confirm exact counts from the uploaded 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03 •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7273F"/>
                </a:solidFill>
                <a:latin typeface="Aptos"/>
              </a:defRPr>
            </a:pPr>
            <a:r>
              <a:t>End-to-End Workflow: KDD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380"/>
                </a:solidFill>
                <a:latin typeface="Aptos"/>
              </a:defRPr>
            </a:pPr>
            <a:r>
              <a:t>COMPANY BANKRUPTCY PREDICTION  • 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6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490472" cy="155448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76272"/>
            <a:ext cx="130759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08B8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532888"/>
            <a:ext cx="134416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7273F"/>
                </a:solidFill>
                <a:latin typeface="Aptos"/>
              </a:defRPr>
            </a:pPr>
            <a:r>
              <a:t>Problem</a:t>
            </a:r>
          </a:p>
          <a:p>
            <a:pPr algn="ctr">
              <a:spcAft>
                <a:spcPts val="500"/>
              </a:spcAft>
              <a:defRPr sz="1300" b="1">
                <a:solidFill>
                  <a:srgbClr val="17273F"/>
                </a:solidFill>
                <a:latin typeface="Aptos"/>
              </a:defRPr>
            </a:pPr>
            <a:r>
              <a:t>identification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3182112"/>
            <a:ext cx="134416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380"/>
                </a:solidFill>
                <a:latin typeface="Aptos"/>
              </a:defRPr>
            </a:pPr>
            <a:r>
              <a:t>Define target</a:t>
            </a:r>
          </a:p>
        </p:txBody>
      </p:sp>
      <p:sp>
        <p:nvSpPr>
          <p:cNvPr id="11" name="Chevron 10"/>
          <p:cNvSpPr/>
          <p:nvPr/>
        </p:nvSpPr>
        <p:spPr>
          <a:xfrm>
            <a:off x="2002536" y="2651760"/>
            <a:ext cx="164592" cy="320040"/>
          </a:xfrm>
          <a:prstGeom prst="chevron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76272" y="2057400"/>
            <a:ext cx="1490472" cy="155448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67712" y="2176272"/>
            <a:ext cx="130759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08B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9424" y="2532888"/>
            <a:ext cx="134416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7273F"/>
                </a:solidFill>
                <a:latin typeface="Aptos"/>
              </a:defRPr>
            </a:pPr>
            <a:r>
              <a:t>Data</a:t>
            </a:r>
          </a:p>
          <a:p>
            <a:pPr algn="ctr">
              <a:spcAft>
                <a:spcPts val="500"/>
              </a:spcAft>
              <a:defRPr sz="1300" b="1">
                <a:solidFill>
                  <a:srgbClr val="17273F"/>
                </a:solidFill>
                <a:latin typeface="Aptos"/>
              </a:defRPr>
            </a:pPr>
            <a:r>
              <a:t>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9424" y="3182112"/>
            <a:ext cx="134416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380"/>
                </a:solidFill>
                <a:latin typeface="Aptos"/>
              </a:defRPr>
            </a:pPr>
            <a:r>
              <a:t>Inspect data</a:t>
            </a:r>
          </a:p>
        </p:txBody>
      </p:sp>
      <p:sp>
        <p:nvSpPr>
          <p:cNvPr id="16" name="Chevron 15"/>
          <p:cNvSpPr/>
          <p:nvPr/>
        </p:nvSpPr>
        <p:spPr>
          <a:xfrm>
            <a:off x="3675887" y="2651760"/>
            <a:ext cx="164592" cy="320040"/>
          </a:xfrm>
          <a:prstGeom prst="chevron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849624" y="2057400"/>
            <a:ext cx="1490472" cy="155448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41063" y="2176272"/>
            <a:ext cx="130759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08B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2776" y="2532888"/>
            <a:ext cx="134416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7273F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3182112"/>
            <a:ext cx="134416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380"/>
                </a:solidFill>
                <a:latin typeface="Aptos"/>
              </a:defRPr>
            </a:pPr>
            <a:r>
              <a:t>Clean &amp; split</a:t>
            </a:r>
          </a:p>
        </p:txBody>
      </p:sp>
      <p:sp>
        <p:nvSpPr>
          <p:cNvPr id="21" name="Chevron 20"/>
          <p:cNvSpPr/>
          <p:nvPr/>
        </p:nvSpPr>
        <p:spPr>
          <a:xfrm>
            <a:off x="5349240" y="2651760"/>
            <a:ext cx="164592" cy="320040"/>
          </a:xfrm>
          <a:prstGeom prst="chevron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22976" y="2057400"/>
            <a:ext cx="1490472" cy="155448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14416" y="2176272"/>
            <a:ext cx="130759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08B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2532888"/>
            <a:ext cx="134416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7273F"/>
                </a:solidFill>
                <a:latin typeface="Aptos"/>
              </a:defRPr>
            </a:pPr>
            <a:r>
              <a:t>Transformation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3182112"/>
            <a:ext cx="134416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380"/>
                </a:solidFill>
                <a:latin typeface="Aptos"/>
              </a:defRPr>
            </a:pPr>
            <a:r>
              <a:t>Prepare features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2592" y="2651760"/>
            <a:ext cx="164592" cy="320040"/>
          </a:xfrm>
          <a:prstGeom prst="chevron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196328" y="2057400"/>
            <a:ext cx="1490472" cy="155448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87768" y="2176272"/>
            <a:ext cx="130759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08B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532888"/>
            <a:ext cx="134416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7273F"/>
                </a:solidFill>
                <a:latin typeface="Aptos"/>
              </a:defRPr>
            </a:pPr>
            <a:r>
              <a:t>Model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182112"/>
            <a:ext cx="134416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380"/>
                </a:solidFill>
                <a:latin typeface="Aptos"/>
              </a:defRPr>
            </a:pPr>
            <a:r>
              <a:t>Fit classifiers</a:t>
            </a:r>
          </a:p>
        </p:txBody>
      </p:sp>
      <p:sp>
        <p:nvSpPr>
          <p:cNvPr id="31" name="Chevron 30"/>
          <p:cNvSpPr/>
          <p:nvPr/>
        </p:nvSpPr>
        <p:spPr>
          <a:xfrm>
            <a:off x="8695944" y="2651760"/>
            <a:ext cx="164592" cy="320040"/>
          </a:xfrm>
          <a:prstGeom prst="chevron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869680" y="2057400"/>
            <a:ext cx="1490472" cy="155448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0" y="2176272"/>
            <a:ext cx="130759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08B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832" y="2532888"/>
            <a:ext cx="134416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7273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2832" y="3182112"/>
            <a:ext cx="134416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380"/>
                </a:solidFill>
                <a:latin typeface="Aptos"/>
              </a:defRPr>
            </a:pPr>
            <a:r>
              <a:t>Compare metrics</a:t>
            </a:r>
          </a:p>
        </p:txBody>
      </p:sp>
      <p:sp>
        <p:nvSpPr>
          <p:cNvPr id="36" name="Chevron 35"/>
          <p:cNvSpPr/>
          <p:nvPr/>
        </p:nvSpPr>
        <p:spPr>
          <a:xfrm>
            <a:off x="10369296" y="2651760"/>
            <a:ext cx="164592" cy="320040"/>
          </a:xfrm>
          <a:prstGeom prst="chevron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543032" y="2057400"/>
            <a:ext cx="1490472" cy="155448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634472" y="2176272"/>
            <a:ext cx="130759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08B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16184" y="2532888"/>
            <a:ext cx="134416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7273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16184" y="3182112"/>
            <a:ext cx="134416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380"/>
                </a:solidFill>
                <a:latin typeface="Aptos"/>
              </a:defRPr>
            </a:pPr>
            <a:r>
              <a:t>Discover patterns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343400"/>
            <a:ext cx="103327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2D3946"/>
                </a:solidFill>
                <a:latin typeface="Aptos"/>
              </a:defRPr>
            </a:pPr>
            <a:r>
              <a:t>The KDD process turns raw financial data into evaluated predictions and interpretable findings.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11680" y="5212080"/>
            <a:ext cx="8138160" cy="64008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11680" y="5212080"/>
            <a:ext cx="64008" cy="6400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94560" y="5340096"/>
            <a:ext cx="7818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Reproducibility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5715000"/>
            <a:ext cx="7790688" cy="457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946"/>
                </a:solidFill>
                <a:latin typeface="Aptos"/>
              </a:defRPr>
            </a:pPr>
            <a:r>
              <a:t>Stratified 80:20 split • fixed random seed • preprocessing fitted on training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04 •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7273F"/>
                </a:solidFill>
                <a:latin typeface="Aptos"/>
              </a:defRPr>
            </a:pPr>
            <a:r>
              <a:t>Data Understanding: Correlation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380"/>
                </a:solidFill>
                <a:latin typeface="Aptos"/>
              </a:defRPr>
            </a:pPr>
            <a:r>
              <a:t>COMPANY BANKRUPTCY PREDICTION  • 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67380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7" name="Picture 6" descr="image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022" y="1234440"/>
            <a:ext cx="5381234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508760"/>
            <a:ext cx="3886200" cy="123444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508760"/>
            <a:ext cx="64008" cy="1234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1636776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What it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011680"/>
            <a:ext cx="353872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Correlation values summarize linear relationships between selected variables.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926080"/>
            <a:ext cx="3886200" cy="132588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43800" y="2926080"/>
            <a:ext cx="64008" cy="1325880"/>
          </a:xfrm>
          <a:prstGeom prst="rect">
            <a:avLst/>
          </a:prstGeom>
          <a:solidFill>
            <a:srgbClr val="4EB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79" y="3054096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Observed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429000"/>
            <a:ext cx="3538728" cy="731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ROA(C) and Net Income to Total Assets have a strong positive correlation (about 0.89).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480560"/>
            <a:ext cx="3886200" cy="105156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43800" y="4480560"/>
            <a:ext cx="64008" cy="1051560"/>
          </a:xfrm>
          <a:prstGeom prst="rect">
            <a:avLst/>
          </a:prstGeom>
          <a:solidFill>
            <a:srgbClr val="DF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26679" y="4608576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983480"/>
            <a:ext cx="3538728" cy="4571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Correlation shows association, not cause and effect.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04 •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7273F"/>
                </a:solidFill>
                <a:latin typeface="Aptos"/>
              </a:defRPr>
            </a:pPr>
            <a:r>
              <a:t>Exploratory Data Analysis: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380"/>
                </a:solidFill>
                <a:latin typeface="Aptos"/>
              </a:defRPr>
            </a:pPr>
            <a:r>
              <a:t>COMPANY BANKRUPTCY PREDICTION  • 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67380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7" name="Picture 6" descr="image(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258" y="1143000"/>
            <a:ext cx="3974123" cy="2834640"/>
          </a:xfrm>
          <a:prstGeom prst="rect">
            <a:avLst/>
          </a:prstGeom>
        </p:spPr>
      </p:pic>
      <p:pic>
        <p:nvPicPr>
          <p:cNvPr id="8" name="Picture 7" descr="image(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924" y="1417320"/>
            <a:ext cx="3738191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34340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67380"/>
                </a:solidFill>
                <a:latin typeface="Aptos"/>
              </a:defRPr>
            </a:pPr>
            <a:r>
              <a:t>Figure: distributions of selected financial indicators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34340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67380"/>
                </a:solidFill>
                <a:latin typeface="Aptos"/>
              </a:defRPr>
            </a:pPr>
            <a:r>
              <a:t>Figure: debt ratio by bankruptcy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46320"/>
            <a:ext cx="5074920" cy="96012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4846320"/>
            <a:ext cx="64008" cy="9601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974336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Histogram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349240"/>
            <a:ext cx="47274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3946"/>
                </a:solidFill>
                <a:latin typeface="Aptos"/>
              </a:defRPr>
            </a:pPr>
            <a:r>
              <a:t>The distributions overlap; one variable alone may not separate the classes.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846320"/>
            <a:ext cx="5074920" cy="96012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4846320"/>
            <a:ext cx="64008" cy="960120"/>
          </a:xfrm>
          <a:prstGeom prst="rect">
            <a:avLst/>
          </a:prstGeom>
          <a:solidFill>
            <a:srgbClr val="DF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974336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Box-plot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349240"/>
            <a:ext cx="47274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3946"/>
                </a:solidFill>
                <a:latin typeface="Aptos"/>
              </a:defRPr>
            </a:pPr>
            <a:r>
              <a:t>The bankrupt group shows a higher median debt ratio in this sample.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05 •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7273F"/>
                </a:solidFill>
                <a:latin typeface="Aptos"/>
              </a:defRPr>
            </a:pPr>
            <a:r>
              <a:t>Preprocessing &amp; Model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380"/>
                </a:solidFill>
                <a:latin typeface="Aptos"/>
              </a:defRPr>
            </a:pPr>
            <a:r>
              <a:t>COMPANY BANKRUPTCY PREDICTION  • 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6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" y="1513332"/>
            <a:ext cx="5257800" cy="141732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0664" y="1536192"/>
            <a:ext cx="45719" cy="128930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99616"/>
            <a:ext cx="4937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91032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• Check missing values and duplicates</a:t>
            </a:r>
          </a:p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• Separate X (features) and y (target)</a:t>
            </a:r>
          </a:p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• Stratified 80:20 train-test split</a:t>
            </a:r>
          </a:p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• Avoid fitting transformations on test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57800" cy="141732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64008" cy="1417320"/>
          </a:xfrm>
          <a:prstGeom prst="rect">
            <a:avLst/>
          </a:prstGeom>
          <a:solidFill>
            <a:srgbClr val="4EB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99616"/>
            <a:ext cx="4937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Models compared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491032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1. Logistic Regression — baseline</a:t>
            </a:r>
          </a:p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2. Decision Tree — decision rules</a:t>
            </a:r>
          </a:p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3. Random Forest — ensemble of trees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7273F"/>
                </a:solidFill>
                <a:latin typeface="Aptos"/>
              </a:defRPr>
            </a:pPr>
            <a:r>
              <a:t>Why compare models?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103327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D3946"/>
                </a:solidFill>
                <a:latin typeface="Aptos"/>
              </a:defRPr>
            </a:pPr>
            <a:r>
              <a:t>•  Each model learns patterns differently.</a:t>
            </a:r>
          </a:p>
          <a:p>
            <a:pPr>
              <a:spcAft>
                <a:spcPts val="500"/>
              </a:spcAft>
              <a:defRPr sz="1700" b="0">
                <a:solidFill>
                  <a:srgbClr val="2D3946"/>
                </a:solidFill>
                <a:latin typeface="Aptos"/>
              </a:defRPr>
            </a:pPr>
            <a:r>
              <a:t>•  All models are evaluated on the same held-out test set.</a:t>
            </a:r>
          </a:p>
          <a:p>
            <a:pPr>
              <a:spcAft>
                <a:spcPts val="500"/>
              </a:spcAft>
              <a:defRPr sz="1700" b="0">
                <a:solidFill>
                  <a:srgbClr val="2D3946"/>
                </a:solidFill>
                <a:latin typeface="Aptos"/>
              </a:defRPr>
            </a:pPr>
            <a:r>
              <a:t>•  Class imbalance means recall and precision matter, not accuracy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06 •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7273F"/>
                </a:solidFill>
                <a:latin typeface="Aptos"/>
              </a:defRPr>
            </a:pPr>
            <a:r>
              <a:t>Model Comparison: What the Results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380"/>
                </a:solidFill>
                <a:latin typeface="Aptos"/>
              </a:defRPr>
            </a:pPr>
            <a:r>
              <a:t>COMPANY BANKRUPTCY PREDICTION  • 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67380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7" name="Picture 6" descr="image(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3605"/>
            <a:ext cx="6858000" cy="34050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325880"/>
            <a:ext cx="3886200" cy="105156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79" y="1325880"/>
            <a:ext cx="64008" cy="10515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59" y="1453895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Random Forest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828800"/>
            <a:ext cx="3538728" cy="4571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95.38% of test predictions were correct.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606040"/>
            <a:ext cx="3886200" cy="105156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98079" y="2606040"/>
            <a:ext cx="64008" cy="1051560"/>
          </a:xfrm>
          <a:prstGeom prst="rect">
            <a:avLst/>
          </a:prstGeom>
          <a:solidFill>
            <a:srgbClr val="DF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59" y="2734056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Recall: 63.64%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3108960"/>
            <a:ext cx="3538728" cy="4571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Detected 28 of 44 actual bankrupt companies.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886200"/>
            <a:ext cx="3886200" cy="105156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98079" y="3886200"/>
            <a:ext cx="64008" cy="1051560"/>
          </a:xfrm>
          <a:prstGeom prst="rect">
            <a:avLst/>
          </a:prstGeom>
          <a:solidFill>
            <a:srgbClr val="4EB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59" y="4014215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F1-score: 0.4706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4389120"/>
            <a:ext cx="3538728" cy="4571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Balances precision (0.3733) and recall.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60720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BB4242"/>
                </a:solidFill>
                <a:latin typeface="Aptos"/>
              </a:defRPr>
            </a:pPr>
            <a:r>
              <a:t>Accuracy is high, but precision and recall show that bankruptcy detection still has important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07 •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7273F"/>
                </a:solidFill>
                <a:latin typeface="Aptos"/>
              </a:defRPr>
            </a:pPr>
            <a:r>
              <a:t>Confusion Matrices: Reading the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380"/>
                </a:solidFill>
                <a:latin typeface="Aptos"/>
              </a:defRPr>
            </a:pPr>
            <a:r>
              <a:t>COMPANY BANKRUPTCY PREDICTION  • 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67380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7" name="Picture 6" descr="image(20261010-18074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1640"/>
            <a:ext cx="7680960" cy="298611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417320"/>
            <a:ext cx="3246120" cy="96012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75320" y="1417320"/>
            <a:ext cx="64008" cy="9601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58200" y="1545336"/>
            <a:ext cx="29260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True negatives: 1,273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920240"/>
            <a:ext cx="28986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946"/>
                </a:solidFill>
                <a:latin typeface="Aptos"/>
              </a:defRPr>
            </a:pPr>
            <a:r>
              <a:t>Solvent companies correctly predicted solvent.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560320"/>
            <a:ext cx="3246120" cy="96012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5320" y="2560320"/>
            <a:ext cx="64008" cy="960120"/>
          </a:xfrm>
          <a:prstGeom prst="rect">
            <a:avLst/>
          </a:prstGeom>
          <a:solidFill>
            <a:srgbClr val="DF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2688336"/>
            <a:ext cx="29260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False positives: 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063239"/>
            <a:ext cx="28986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946"/>
                </a:solidFill>
                <a:latin typeface="Aptos"/>
              </a:defRPr>
            </a:pPr>
            <a:r>
              <a:t>Solvent companies incorrectly flagged bankrupt.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703320"/>
            <a:ext cx="3246120" cy="96012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3703320"/>
            <a:ext cx="64008" cy="960120"/>
          </a:xfrm>
          <a:prstGeom prst="rect">
            <a:avLst/>
          </a:prstGeom>
          <a:solidFill>
            <a:srgbClr val="BB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3831335"/>
            <a:ext cx="29260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False negatives: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206240"/>
            <a:ext cx="28986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946"/>
                </a:solidFill>
                <a:latin typeface="Aptos"/>
              </a:defRPr>
            </a:pPr>
            <a:r>
              <a:t>Bankrupt companies missed by the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4846320"/>
            <a:ext cx="3246120" cy="96012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75320" y="4846320"/>
            <a:ext cx="64008" cy="960120"/>
          </a:xfrm>
          <a:prstGeom prst="rect">
            <a:avLst/>
          </a:prstGeom>
          <a:solidFill>
            <a:srgbClr val="31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4974336"/>
            <a:ext cx="29260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True positives: 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349240"/>
            <a:ext cx="28986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946"/>
                </a:solidFill>
                <a:latin typeface="Aptos"/>
              </a:defRPr>
            </a:pPr>
            <a:r>
              <a:t>Bankrupt companies correctly detected.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7223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7273F"/>
                </a:solidFill>
                <a:latin typeface="Aptos"/>
              </a:defRPr>
            </a:pPr>
            <a:r>
              <a:t>For the Random Forest, 28 / (28 + 16) = 63.64% recall.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08 •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7273F"/>
                </a:solidFill>
                <a:latin typeface="Aptos"/>
              </a:defRPr>
            </a:pPr>
            <a:r>
              <a:t>Selected Model: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380"/>
                </a:solidFill>
                <a:latin typeface="Aptos"/>
              </a:defRPr>
            </a:pPr>
            <a:r>
              <a:t>COMPANY BANKRUPTCY PREDICTION  • 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6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123444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4008" cy="1234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91056"/>
            <a:ext cx="31546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312724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D3946"/>
                </a:solidFill>
                <a:latin typeface="Aptos"/>
              </a:defRPr>
            </a:pPr>
            <a:r>
              <a:t>95.38%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63040"/>
            <a:ext cx="3474720" cy="123444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463040"/>
            <a:ext cx="64008" cy="1234440"/>
          </a:xfrm>
          <a:prstGeom prst="rect">
            <a:avLst/>
          </a:prstGeom>
          <a:solidFill>
            <a:srgbClr val="4EB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591056"/>
            <a:ext cx="31546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65960"/>
            <a:ext cx="312724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D3946"/>
                </a:solidFill>
                <a:latin typeface="Aptos"/>
              </a:defRPr>
            </a:pPr>
            <a:r>
              <a:t>37.33%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63040"/>
            <a:ext cx="3474720" cy="123444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463040"/>
            <a:ext cx="64008" cy="1234440"/>
          </a:xfrm>
          <a:prstGeom prst="rect">
            <a:avLst/>
          </a:prstGeom>
          <a:solidFill>
            <a:srgbClr val="DF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591056"/>
            <a:ext cx="31546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965960"/>
            <a:ext cx="312724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D3946"/>
                </a:solidFill>
                <a:latin typeface="Aptos"/>
              </a:defRPr>
            </a:pPr>
            <a:r>
              <a:t>63.64%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17520"/>
            <a:ext cx="3474720" cy="123444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017520"/>
            <a:ext cx="64008" cy="1234440"/>
          </a:xfrm>
          <a:prstGeom prst="rect">
            <a:avLst/>
          </a:prstGeom>
          <a:solidFill>
            <a:srgbClr val="31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145536"/>
            <a:ext cx="31546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520439"/>
            <a:ext cx="312724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D3946"/>
                </a:solidFill>
                <a:latin typeface="Aptos"/>
              </a:defRPr>
            </a:pPr>
            <a:r>
              <a:t>47.06%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017520"/>
            <a:ext cx="3474720" cy="123444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26280" y="3017520"/>
            <a:ext cx="64008" cy="1234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3145536"/>
            <a:ext cx="31546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520439"/>
            <a:ext cx="312724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D3946"/>
                </a:solidFill>
                <a:latin typeface="Aptos"/>
              </a:defRPr>
            </a:pPr>
            <a:r>
              <a:t>0.950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017520"/>
            <a:ext cx="3474720" cy="123444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21040" y="3017520"/>
            <a:ext cx="64008" cy="1234440"/>
          </a:xfrm>
          <a:prstGeom prst="rect">
            <a:avLst/>
          </a:prstGeom>
          <a:solidFill>
            <a:srgbClr val="DF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3145536"/>
            <a:ext cx="31546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PR-AUC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520439"/>
            <a:ext cx="312724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D3946"/>
                </a:solidFill>
                <a:latin typeface="Aptos"/>
              </a:defRPr>
            </a:pPr>
            <a:r>
              <a:t>0.490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892040"/>
            <a:ext cx="1042416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D3946"/>
                </a:solidFill>
                <a:latin typeface="Aptos"/>
              </a:defRPr>
            </a:pPr>
            <a:r>
              <a:t>Interpretation: Random Forest separates the classes well overall (ROC-AUC ≈ 0.95), but its bankruptcy precision is 37.33%. Of 75 companies predicted bankrupt, 28 were actually bankrupt.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760720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67380"/>
                </a:solidFill>
                <a:latin typeface="Aptos"/>
              </a:defRPr>
            </a:pPr>
            <a:r>
              <a:t>The selected model should be judged against the cost of missed bankruptcies and false alarms.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09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7273F"/>
                </a:solidFill>
                <a:latin typeface="Aptos"/>
              </a:defRPr>
            </a:pPr>
            <a:r>
              <a:t>Conclusion &amp;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380"/>
                </a:solidFill>
                <a:latin typeface="Aptos"/>
              </a:defRPr>
            </a:pPr>
            <a:r>
              <a:t>COMPANY BANKRUPTCY PREDICTION  • 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6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5166360" cy="182880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371600"/>
            <a:ext cx="64008" cy="18288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499616"/>
            <a:ext cx="4846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4818888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• Completed an end-to-end KDD workflow</a:t>
            </a:r>
          </a:p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• Compared three classification models</a:t>
            </a:r>
          </a:p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• Random Forest achieved 95.38% accuracy and 63.64% recall</a:t>
            </a:r>
          </a:p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• Confusion matrix revealed 16 missed bankruptcies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166360" cy="1828800"/>
          </a:xfrm>
          <a:prstGeom prst="roundRect">
            <a:avLst/>
          </a:prstGeom>
          <a:solidFill>
            <a:srgbClr val="EFF7F7"/>
          </a:solidFill>
          <a:ln>
            <a:solidFill>
              <a:srgbClr val="D8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64008" cy="1828800"/>
          </a:xfrm>
          <a:prstGeom prst="rect">
            <a:avLst/>
          </a:prstGeom>
          <a:solidFill>
            <a:srgbClr val="DF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99616"/>
            <a:ext cx="4846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273F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4818888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• Imbalanced historical dataset</a:t>
            </a:r>
          </a:p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• Precision is relatively low</a:t>
            </a:r>
          </a:p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• Financial patterns may change over time</a:t>
            </a:r>
          </a:p>
          <a:p>
            <a:pPr>
              <a:spcAft>
                <a:spcPts val="500"/>
              </a:spcAft>
              <a:defRPr sz="1400" b="0">
                <a:solidFill>
                  <a:srgbClr val="2D3946"/>
                </a:solidFill>
                <a:latin typeface="Aptos"/>
              </a:defRPr>
            </a:pPr>
            <a:r>
              <a:t>• Prediction is not a guarantee of bankruptcy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10332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7273F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33272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D3946"/>
                </a:solidFill>
                <a:latin typeface="Aptos"/>
              </a:defRPr>
            </a:pPr>
            <a:r>
              <a:t>•  Tune classification threshold using training validation data.</a:t>
            </a:r>
          </a:p>
          <a:p>
            <a:pPr>
              <a:spcAft>
                <a:spcPts val="500"/>
              </a:spcAft>
              <a:defRPr sz="1600" b="0">
                <a:solidFill>
                  <a:srgbClr val="2D3946"/>
                </a:solidFill>
                <a:latin typeface="Aptos"/>
              </a:defRPr>
            </a:pPr>
            <a:r>
              <a:t>•  Test boosting models and probability calibration.</a:t>
            </a:r>
          </a:p>
          <a:p>
            <a:pPr>
              <a:spcAft>
                <a:spcPts val="500"/>
              </a:spcAft>
              <a:defRPr sz="1600" b="0">
                <a:solidFill>
                  <a:srgbClr val="2D3946"/>
                </a:solidFill>
                <a:latin typeface="Aptos"/>
              </a:defRPr>
            </a:pPr>
            <a:r>
              <a:t>•  Validate on newer data and use explainability methods.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008B8B"/>
                </a:solidFill>
                <a:latin typeface="Aptos"/>
              </a:defRPr>
            </a:pPr>
            <a:r>
              <a:t>Takeaway: use predictions as a financial risk signal, not as a standalone decision.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10 •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7273F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380"/>
                </a:solidFill>
                <a:latin typeface="Aptos"/>
              </a:defRPr>
            </a:pPr>
            <a:r>
              <a:t>COMPANY BANKRUPTCY PREDICTION  • 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673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8813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3946"/>
                </a:solidFill>
                <a:latin typeface="Aptos"/>
              </a:defRPr>
            </a:pPr>
            <a:r>
              <a:t>•  Beaver, W. H. (1966). Financial ratios as predictors of failure. Journal of Accounting Research, 4, 71–111.</a:t>
            </a:r>
          </a:p>
          <a:p>
            <a:pPr>
              <a:spcAft>
                <a:spcPts val="500"/>
              </a:spcAft>
              <a:defRPr sz="1300" b="0">
                <a:solidFill>
                  <a:srgbClr val="2D3946"/>
                </a:solidFill>
                <a:latin typeface="Aptos"/>
              </a:defRPr>
            </a:pPr>
            <a:r>
              <a:t>•  Altman, E. I. (1968). Financial ratios, discriminant analysis and the prediction of corporate bankruptcy. The Journal of Finance, 23(4), 589–609.</a:t>
            </a:r>
          </a:p>
          <a:p>
            <a:pPr>
              <a:spcAft>
                <a:spcPts val="500"/>
              </a:spcAft>
              <a:defRPr sz="1300" b="0">
                <a:solidFill>
                  <a:srgbClr val="2D3946"/>
                </a:solidFill>
                <a:latin typeface="Aptos"/>
              </a:defRPr>
            </a:pPr>
            <a:r>
              <a:t>•  Ohlson, J. A. (1980). Financial ratios and the probabilistic prediction of bankruptcy. Journal of Accounting Research, 18(1), 109–131.</a:t>
            </a:r>
          </a:p>
          <a:p>
            <a:pPr>
              <a:spcAft>
                <a:spcPts val="500"/>
              </a:spcAft>
              <a:defRPr sz="1300" b="0">
                <a:solidFill>
                  <a:srgbClr val="2D3946"/>
                </a:solidFill>
                <a:latin typeface="Aptos"/>
              </a:defRPr>
            </a:pPr>
            <a:r>
              <a:t>•  Zięba, M., Tomczak, S. K., &amp; Tomczak, J. M. (2016). Ensemble boosted trees with synthetic features generation in application to bankruptcy prediction. Expert Systems with Applications, 58, 93–101.</a:t>
            </a:r>
          </a:p>
          <a:p>
            <a:pPr>
              <a:spcAft>
                <a:spcPts val="500"/>
              </a:spcAft>
              <a:defRPr sz="1300" b="0">
                <a:solidFill>
                  <a:srgbClr val="2D3946"/>
                </a:solidFill>
                <a:latin typeface="Aptos"/>
              </a:defRPr>
            </a:pPr>
            <a:r>
              <a:t>•  Barboza, F., Kimura, H., &amp; Altman, E. (2017). Machine learning models and bankruptcy prediction. Expert Systems with Applications, 83, 405–417.</a:t>
            </a:r>
          </a:p>
          <a:p>
            <a:pPr>
              <a:spcAft>
                <a:spcPts val="500"/>
              </a:spcAft>
              <a:defRPr sz="1300" b="0">
                <a:solidFill>
                  <a:srgbClr val="2D3946"/>
                </a:solidFill>
                <a:latin typeface="Aptos"/>
              </a:defRPr>
            </a:pPr>
            <a:r>
              <a:t>•  UCI Machine Learning Repository: Taiwanese Bankruptcy Prediction dataset. https://archive.ics.uci.edu/dataset/572/taiwanese+bankruptcy+prediction</a:t>
            </a:r>
          </a:p>
          <a:p>
            <a:pPr>
              <a:spcAft>
                <a:spcPts val="500"/>
              </a:spcAft>
              <a:defRPr sz="1300" b="0">
                <a:solidFill>
                  <a:srgbClr val="2D3946"/>
                </a:solidFill>
                <a:latin typeface="Aptos"/>
              </a:defRPr>
            </a:pPr>
            <a:r>
              <a:t>•  Scikit-learn documentation: https://scikit-learn.org/stable/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607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380"/>
                </a:solidFill>
                <a:latin typeface="Aptos"/>
              </a:defRPr>
            </a:pPr>
            <a:r>
              <a:t>Check the dataset citation and bibliographic details before final submission.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7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2300" b="0">
                <a:solidFill>
                  <a:srgbClr val="4EBCBA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09160"/>
            <a:ext cx="8503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CDDFE7"/>
                </a:solidFill>
                <a:latin typeface="Aptos"/>
              </a:defRPr>
            </a:pPr>
            <a:r>
              <a:t>Company Bankruptcy Prediction Using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1076</Words>
  <Application>Microsoft Office PowerPoint</Application>
  <PresentationFormat>Widescreen</PresentationFormat>
  <Paragraphs>186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Devansh Gosewade</cp:lastModifiedBy>
  <cp:revision>2</cp:revision>
  <dcterms:created xsi:type="dcterms:W3CDTF">2013-01-27T09:14:16Z</dcterms:created>
  <dcterms:modified xsi:type="dcterms:W3CDTF">2026-10-10T18:11:37Z</dcterms:modified>
  <cp:category/>
</cp:coreProperties>
</file>